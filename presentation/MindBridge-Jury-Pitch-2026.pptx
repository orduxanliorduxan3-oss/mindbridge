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a7373fe9f94c74" /><Relationship Type="http://schemas.openxmlformats.org/officeDocument/2006/relationships/extended-properties" Target="/docProps/app.xml" Id="R3e4c67ad88a24dda" /><Relationship Type="http://schemas.openxmlformats.org/officeDocument/2006/relationships/officeDocument" Target="/ppt/presentation.xml" Id="R8b9f2213472242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dd12af8a9045d0"/>
  </p:sldMasterIdLst>
  <p:notesMasterIdLst>
    <p:notesMasterId xmlns:r="http://schemas.openxmlformats.org/officeDocument/2006/relationships" r:id="R6cf1d937508a434d"/>
  </p:notesMasterIdLst>
  <p:sldIdLst>
    <p:sldId xmlns:r="http://schemas.openxmlformats.org/officeDocument/2006/relationships" id="256" r:id="R2c7ecaf9c5b34a0d"/>
    <p:sldId xmlns:r="http://schemas.openxmlformats.org/officeDocument/2006/relationships" id="257" r:id="Rc07788e025d64397"/>
    <p:sldId xmlns:r="http://schemas.openxmlformats.org/officeDocument/2006/relationships" id="258" r:id="R0600773b51ff4938"/>
    <p:sldId xmlns:r="http://schemas.openxmlformats.org/officeDocument/2006/relationships" id="259" r:id="Rac979e8fdcef49fb"/>
    <p:sldId xmlns:r="http://schemas.openxmlformats.org/officeDocument/2006/relationships" id="260" r:id="Rd8421ce4ee1a4489"/>
    <p:sldId xmlns:r="http://schemas.openxmlformats.org/officeDocument/2006/relationships" id="261" r:id="R9a5a431713bd4181"/>
    <p:sldId xmlns:r="http://schemas.openxmlformats.org/officeDocument/2006/relationships" id="262" r:id="R97479984b870454b"/>
    <p:sldId xmlns:r="http://schemas.openxmlformats.org/officeDocument/2006/relationships" id="263" r:id="R702884aa973843fd"/>
    <p:sldId xmlns:r="http://schemas.openxmlformats.org/officeDocument/2006/relationships" id="264" r:id="Rc87f61dfb430430a"/>
    <p:sldId xmlns:r="http://schemas.openxmlformats.org/officeDocument/2006/relationships" id="265" r:id="R6910d6a8a8e34c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b729bfe8a94ec3" /><Relationship Type="http://schemas.openxmlformats.org/officeDocument/2006/relationships/slideMaster" Target="/ppt/slideMasters/slideMaster1.xml" Id="Ra7dd12af8a9045d0" /><Relationship Type="http://schemas.openxmlformats.org/officeDocument/2006/relationships/notesMaster" Target="/ppt/notesMasters/notesMaster1.xml" Id="R6cf1d937508a434d" /><Relationship Type="http://schemas.openxmlformats.org/officeDocument/2006/relationships/presProps" Target="/ppt/presProps.xml" Id="R404420aef6ca4548" /><Relationship Type="http://schemas.openxmlformats.org/officeDocument/2006/relationships/tableStyles" Target="/ppt/tableStyles.xml" Id="Rdff04f415d504570" /><Relationship Type="http://schemas.openxmlformats.org/officeDocument/2006/relationships/slide" Target="/ppt/slides/slide1.xml" Id="R2c7ecaf9c5b34a0d" /><Relationship Type="http://schemas.openxmlformats.org/officeDocument/2006/relationships/slide" Target="/ppt/slides/slide2.xml" Id="Rc07788e025d64397" /><Relationship Type="http://schemas.openxmlformats.org/officeDocument/2006/relationships/slide" Target="/ppt/slides/slide3.xml" Id="R0600773b51ff4938" /><Relationship Type="http://schemas.openxmlformats.org/officeDocument/2006/relationships/slide" Target="/ppt/slides/slide4.xml" Id="Rac979e8fdcef49fb" /><Relationship Type="http://schemas.openxmlformats.org/officeDocument/2006/relationships/slide" Target="/ppt/slides/slide5.xml" Id="Rd8421ce4ee1a4489" /><Relationship Type="http://schemas.openxmlformats.org/officeDocument/2006/relationships/slide" Target="/ppt/slides/slide6.xml" Id="R9a5a431713bd4181" /><Relationship Type="http://schemas.openxmlformats.org/officeDocument/2006/relationships/slide" Target="/ppt/slides/slide7.xml" Id="R97479984b870454b" /><Relationship Type="http://schemas.openxmlformats.org/officeDocument/2006/relationships/slide" Target="/ppt/slides/slide8.xml" Id="R702884aa973843fd" /><Relationship Type="http://schemas.openxmlformats.org/officeDocument/2006/relationships/slide" Target="/ppt/slides/slide9.xml" Id="Rc87f61dfb430430a" /><Relationship Type="http://schemas.openxmlformats.org/officeDocument/2006/relationships/slide" Target="/ppt/slides/slide10.xml" Id="R6910d6a8a8e34c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639a67c6ba46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73e1b818cd4e97" /><Relationship Type="http://schemas.openxmlformats.org/officeDocument/2006/relationships/notesMaster" Target="/ppt/notesMasters/notesMaster1.xml" Id="Re3063e1f3c3245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68212465ec4ff5" /><Relationship Type="http://schemas.openxmlformats.org/officeDocument/2006/relationships/notesMaster" Target="/ppt/notesMasters/notesMaster1.xml" Id="Ra93fc742724044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2ecaac13954336" /><Relationship Type="http://schemas.openxmlformats.org/officeDocument/2006/relationships/notesMaster" Target="/ppt/notesMasters/notesMaster1.xml" Id="Ree008f5880114b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d2de8fa62046c1" /><Relationship Type="http://schemas.openxmlformats.org/officeDocument/2006/relationships/notesMaster" Target="/ppt/notesMasters/notesMaster1.xml" Id="Rd28bc4053de749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2f7cdf84c94ea0" /><Relationship Type="http://schemas.openxmlformats.org/officeDocument/2006/relationships/notesMaster" Target="/ppt/notesMasters/notesMaster1.xml" Id="Re1ce3fc60da64d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3d87df7e374be5" /><Relationship Type="http://schemas.openxmlformats.org/officeDocument/2006/relationships/notesMaster" Target="/ppt/notesMasters/notesMaster1.xml" Id="R773f67d98fd349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d0fa093533424b" /><Relationship Type="http://schemas.openxmlformats.org/officeDocument/2006/relationships/notesMaster" Target="/ppt/notesMasters/notesMaster1.xml" Id="Rd8ba4418fe6d4a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8292a5553a47d3" /><Relationship Type="http://schemas.openxmlformats.org/officeDocument/2006/relationships/notesMaster" Target="/ppt/notesMasters/notesMaster1.xml" Id="R553c55bcffc042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119b2ea1384fae" /><Relationship Type="http://schemas.openxmlformats.org/officeDocument/2006/relationships/notesMaster" Target="/ppt/notesMasters/notesMaster1.xml" Id="Rd4d35fb371c64a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e58b32a1d74f58" /><Relationship Type="http://schemas.openxmlformats.org/officeDocument/2006/relationships/notesMaster" Target="/ppt/notesMasters/notesMaster1.xml" Id="Rc055a87dd5f94e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MindBridge is a working hackathon prototype. The intended outcome is more active participation in a small guided learning group. We do not yet claim improved learning outcomes or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product-design observations and a hypothesis, not survey or impact statistics. A pilot must measure whether smaller groups improve participation and 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 is captured from the current local prototype. Whiteboard strokes and chat controls work. Video, audio and participant identities are simulations; no real learners are 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dashboard screenshot shows the AI coach link and learner workspace. Registration and profile edits are local to the browser. The payment flow is a demo with no processor or actual card collection.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matcher is deterministic, content-based and runs locally; it is not a trained predictive model. The study coach uses Google Gemini 3.5 Flash-Lite through the server. A live response was verified in both English and Azerbaijani. The browser sends question, recent turns, subject, role and language, but excludes saved name and email. The screenshot shows a real model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actual deterministic prototype case. With AI &amp; Python selected and a React website goal, the subject-only baseline would retain AI &amp; Python, while the goal-aware model chooses the web application cohort. The current screen exposes the factor breakdown and other eligible options. A separate adult Scratch case checks the age filter. No real-user comparison has been run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sources: Coursera https://www.coursera.org/courses?query=self%20paced ; Preply https://preply.com/en/app ; Outschool https://support.outschool.com/en/articles/4321090-faq-for-outschool-families ; Khanmigo https://www.khanacademy.org/khanmigo . The table compares primary offers and our intended emphasis. It does not claim that any competitor lacks every adjacent feature.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checkout prices are prototype prices in Azerbaijani manat. They are not validated willingness to pay, revenue or actual charges. AI cost illustration: 1,000 turns times 500 input tokens is 0.5 million tokens; at US$0.30 per million = US$0.15. 1,000 times 300 total output tokens is 0.3 million; at US$2.50 per million = US$0.75. Total US$0.90, before tax or other infrastructure, assuming all output including thinking fits in 300 tokens. Source: Google Gemini 3.5 Flash-Lite standard paid pricing https://ai.google.dev/gemini-api/docs/pricing . The server also caps message length, recent history, output tokens and request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Automated tests cover route gating, matching changes, age handling, whiteboard state, assessment/certificate requirements, payment sequencing and AI request safety. The classroom participants, video and payments remain simulated. We have not measured live learner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pilot, not an announced partnership. Recruit two vetted mentors and up to ten learners across two small cohorts for four weeks. Compare participant-rated fit of the goal-aware matcher with a subject-only baseline, and record attendance, questions, quiz progress and continuation intent. Team names come from the earlier supplied Canva pitch; confirm spelling before public submission. Close with a live walkthrough: goal-aware match, Gemini question, whiteboard stroke and assessment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ac06d1b8d46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b57b0d01144d90" /><Relationship Type="http://schemas.openxmlformats.org/officeDocument/2006/relationships/slideLayout" Target="/ppt/slideLayouts/slideLayout1.xml" Id="R2c7ee6ba2b0741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7ee6ba2b0741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cf8a6993f41ab" /><Relationship Type="http://schemas.openxmlformats.org/officeDocument/2006/relationships/notesSlide" Target="/ppt/notesSlides/notesSlide1.xml" Id="R81b87038aae94b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abd4d70694ea1" /><Relationship Type="http://schemas.openxmlformats.org/officeDocument/2006/relationships/notesSlide" Target="/ppt/notesSlides/notesSlide2.xml" Id="Rb16bd36fedc14f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caf8c64414f25" /><Relationship Type="http://schemas.openxmlformats.org/officeDocument/2006/relationships/image" Target="/ppt/media/image.png" Id="Rb41ae5f8abc549e6" /><Relationship Type="http://schemas.openxmlformats.org/officeDocument/2006/relationships/notesSlide" Target="/ppt/notesSlides/notesSlide3.xml" Id="R77d58e9a91cb4f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b730d0c1a4061" /><Relationship Type="http://schemas.openxmlformats.org/officeDocument/2006/relationships/image" Target="/ppt/media/image2.png" Id="Re014bb659f884e3b" /><Relationship Type="http://schemas.openxmlformats.org/officeDocument/2006/relationships/notesSlide" Target="/ppt/notesSlides/notesSlide4.xml" Id="R9bb4c85f534443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7ab2a08df4918" /><Relationship Type="http://schemas.openxmlformats.org/officeDocument/2006/relationships/image" Target="/ppt/media/image3.png" Id="R8feea28a0245454e" /><Relationship Type="http://schemas.openxmlformats.org/officeDocument/2006/relationships/notesSlide" Target="/ppt/notesSlides/notesSlide5.xml" Id="R541f731ddeb047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1fd3c5937425f" /><Relationship Type="http://schemas.openxmlformats.org/officeDocument/2006/relationships/image" Target="/ppt/media/image4.png" Id="Rf23b87b8d9e54d01" /><Relationship Type="http://schemas.openxmlformats.org/officeDocument/2006/relationships/notesSlide" Target="/ppt/notesSlides/notesSlide6.xml" Id="Re101939050b34e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43094358e4a29" /><Relationship Type="http://schemas.openxmlformats.org/officeDocument/2006/relationships/notesSlide" Target="/ppt/notesSlides/notesSlide7.xml" Id="R22176d9785d643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f306da4684517" /><Relationship Type="http://schemas.openxmlformats.org/officeDocument/2006/relationships/notesSlide" Target="/ppt/notesSlides/notesSlide8.xml" Id="Rd01a51b74f0e4b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d901142eb4e12" /><Relationship Type="http://schemas.openxmlformats.org/officeDocument/2006/relationships/notesSlide" Target="/ppt/notesSlides/notesSlide9.xml" Id="R55a0357585f44d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d9ab951624db1" /><Relationship Type="http://schemas.openxmlformats.org/officeDocument/2006/relationships/notesSlide" Target="/ppt/notesSlides/notesSlide10.xml" Id="Rfec8541340234f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05822-833E-496C-BE61-53DABC19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2EE99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C2EE99"/>
                </a:solidFill>
                <a:latin typeface="Segoe UI"/>
                <a:ea typeface="Segoe UI"/>
                <a:cs typeface="Segoe UI"/>
              </a:rPr>
              <a:t>MINDBRIDGE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46805-F5A1-4BCF-B916-F33C4933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small group for</a:t>
            </a:r>
          </a:p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every big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045C5-B8F2-4F48-B06D-12A79CF2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971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7DBE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D7DBEA"/>
                </a:solidFill>
                <a:latin typeface="Segoe UI"/>
                <a:ea typeface="Segoe UI"/>
                <a:cs typeface="Segoe UI"/>
              </a:rPr>
              <a:t>Mentor-led learning, explainable cohort matching, and a live AI study coach.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7D82D-5463-4B83-8A42-1C23A1BD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6D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EB6D1"/>
                </a:solidFill>
                <a:latin typeface="Segoe UI"/>
                <a:ea typeface="Segoe UI"/>
                <a:cs typeface="Segoe UI"/>
              </a:rPr>
              <a:t>Hackathon pitch  ·  9 October 2026</a:t>
            </a:r>
          </a:p>
        </p:txBody>
      </p:sp>
    </p:spTree>
    <p:extLst>
      <p:ext uri="{BB962C8B-B14F-4D97-AF65-F5344CB8AC3E}">
        <p14:creationId xmlns:p14="http://schemas.microsoft.com/office/powerpoint/2010/main" val="430716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C07DD-E833-47CD-AFDC-D39E6913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MINDBRIDGE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0D0E3-7881-4E53-B312-23910A60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545D7-7670-43AF-9F27-822339C4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The participation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9E908-4D1C-4D05-8CC9-27085A9B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62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Online education expands access to content. It does not guarantee a place to ask, practise and be noticed.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E253B-BEC5-407C-95FE-564A6684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Recorded courses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E9CB2-4F06-42FC-85ED-BA1BA21A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276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Flexible lessons. Questions often wait.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2FD0C-D3AE-4208-A259-7387E2A1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71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Private tutoring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C5FCD-448F-4033-8F61-45CFBD70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05275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Focused attention, without a peer group.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A1D2A-F526-4F19-A97A-A25DE4F1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Large live classes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DC358-C30D-4A81-8711-92684AB0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05275"/>
            <a:ext cx="2905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Peers are present. Airtime can be scarce.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A8884-89DA-40ED-82FA-D260D65E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Our hypothesis: 4–5 learners with one mentor can make participation routine.</a:t>
            </a:r>
          </a:p>
        </p:txBody>
      </p:sp>
    </p:spTree>
    <p:extLst>
      <p:ext uri="{BB962C8B-B14F-4D97-AF65-F5344CB8AC3E}">
        <p14:creationId xmlns:p14="http://schemas.microsoft.com/office/powerpoint/2010/main" val="2089127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1A554-66DA-477F-AFC7-439E323D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MINDBRIDGE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7BCED-907D-48DA-8F35-18BF3D8B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568D0-CC46-41A2-B534-74AB895D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One mentor. Four or five learners.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9836A-28D8-4C32-8688-8E8B7508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286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Learners with compatible goals, level and time meet in one guided cohort. The shared whiteboard turns questions into visible practice.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F3241-8DC9-45D2-95CE-CE1D07A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Interactive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A27A6-27FC-400C-A882-EC955BDA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Drawing, erasing, undo and group chat work in the browser.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ae5f8abc549e6"/>
          <a:stretch xmlns:a="http://schemas.openxmlformats.org/drawingml/2006/main"/>
        </p:blipFill>
        <p:spPr>
          <a:xfrm xmlns:a="http://schemas.openxmlformats.org/drawingml/2006/main">
            <a:off x="5219700" y="1957388"/>
            <a:ext cx="6286500" cy="3829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471A9-2B1F-449F-801C-1F905011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1817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Classroom video tiles and participant identities are sample content.</a:t>
            </a:r>
          </a:p>
        </p:txBody>
      </p:sp>
    </p:spTree>
    <p:extLst>
      <p:ext uri="{BB962C8B-B14F-4D97-AF65-F5344CB8AC3E}">
        <p14:creationId xmlns:p14="http://schemas.microsoft.com/office/powerpoint/2010/main" val="1542251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B39EE-BC48-4A7D-9762-CFD162B7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MINDBRIDGE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0F156-E626-4108-919D-F7CECB99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0025C-9149-4224-A935-61335A42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One connected learner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CB5D6-A17A-4916-AF4D-B55B5193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C48A3-E8B3-4CC6-B7A5-B5797F03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621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Register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D7CD1-B223-4C0F-ADED-43BD6830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8127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Student and Teacher open different workspaces.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76906-1A7F-4069-8A18-BFED664F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59951-1270-4F5E-83AA-6DFD32B1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623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Find a cohort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C31E7-2AF2-4858-BEE7-B524A436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A written goal changes the ranking and its explanation.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9EF6A-A9DD-4412-8D82-87E3187C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63266-3462-4B4E-BB8F-85BA9638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Learn together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93285-3EC9-47EE-9F32-0C542E0B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8152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Mentor-led practice plus AI help between sessions.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E7E95-6505-4625-94D6-8E60C4CB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C4379-40A8-469D-B159-41603301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625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Show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CA0CC-7569-4643-B92C-362A7984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816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Quizzes and a coding task gate the demo certificate.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4bb659f884e3b"/>
          <a:stretch xmlns:a="http://schemas.openxmlformats.org/drawingml/2006/main"/>
        </p:blipFill>
        <p:spPr>
          <a:xfrm xmlns:a="http://schemas.openxmlformats.org/drawingml/2006/main">
            <a:off x="5762625" y="2021574"/>
            <a:ext cx="5724525" cy="3300627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C9189-514B-4A95-A5F2-90F5DA5A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657850"/>
            <a:ext cx="569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Continuation payment is gated after the demo lesson; no real charge occurs.</a:t>
            </a:r>
          </a:p>
        </p:txBody>
      </p:sp>
    </p:spTree>
    <p:extLst>
      <p:ext uri="{BB962C8B-B14F-4D97-AF65-F5344CB8AC3E}">
        <p14:creationId xmlns:p14="http://schemas.microsoft.com/office/powerpoint/2010/main" val="1072665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91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A9FB5-E10F-42B7-9FD3-62A98A60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EE99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2EE99"/>
                </a:solidFill>
                <a:latin typeface="Segoe UI"/>
                <a:ea typeface="Segoe UI"/>
                <a:cs typeface="Segoe UI"/>
              </a:rPr>
              <a:t>MINDBRIDGE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BA57F-5FD7-4676-A2B7-B6FA5B09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EB6D1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EB6D1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E774D-4699-4364-87D3-9968373E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Two AI tasks, each with a clear 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A94CC-3A0B-4218-BBD6-A16CF68B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2EE99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C2EE99"/>
                </a:solidFill>
                <a:latin typeface="Segoe UI"/>
                <a:ea typeface="Segoe UI"/>
                <a:cs typeface="Segoe UI"/>
              </a:rPr>
              <a:t>Before class: explain the match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EEA77-03FD-439A-A54E-7BC7D43A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4191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DAE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6DAEB"/>
                </a:solidFill>
                <a:latin typeface="Segoe UI"/>
                <a:ea typeface="Segoe UI"/>
                <a:cs typeface="Segoe UI"/>
              </a:rPr>
              <a:t>A local TF-IDF matcher compares the written goal with course topics. Age filters eligibility; level and schedule add visible fit points.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96AC2-3A53-4D93-A7B3-FB8B5A83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6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2EE99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C2EE99"/>
                </a:solidFill>
                <a:latin typeface="Segoe UI"/>
                <a:ea typeface="Segoe UI"/>
                <a:cs typeface="Segoe UI"/>
              </a:rPr>
              <a:t>Between classes: answer a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E3C33-4B6F-48E0-827A-10371716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419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DAE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6DAEB"/>
                </a:solidFill>
                <a:latin typeface="Segoe UI"/>
                <a:ea typeface="Segoe UI"/>
                <a:cs typeface="Segoe UI"/>
              </a:rPr>
              <a:t>Gemini generates live explanations and hints in English or Azerbaijani.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ea28a0245454e"/>
          <a:stretch xmlns:a="http://schemas.openxmlformats.org/drawingml/2006/main"/>
        </p:blipFill>
        <p:spPr>
          <a:xfrm xmlns:a="http://schemas.openxmlformats.org/drawingml/2006/main">
            <a:off x="5143500" y="1790960"/>
            <a:ext cx="6362700" cy="393330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76991-E630-4D3B-8CD8-6793941B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81700"/>
            <a:ext cx="636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D7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8C0D7"/>
                </a:solidFill>
                <a:latin typeface="Segoe UI"/>
                <a:ea typeface="Segoe UI"/>
                <a:cs typeface="Segoe UI"/>
              </a:rPr>
              <a:t>Live English and Azerbaijani answers verified on 9 October 2026.</a:t>
            </a:r>
          </a:p>
        </p:txBody>
      </p:sp>
    </p:spTree>
    <p:extLst>
      <p:ext uri="{BB962C8B-B14F-4D97-AF65-F5344CB8AC3E}">
        <p14:creationId xmlns:p14="http://schemas.microsoft.com/office/powerpoint/2010/main" val="725066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6A1C3-8B2D-41C5-9F9F-33EB7F83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MINDBRIDGE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DED21-146D-4C25-8E8D-5C7B5A8A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AE255-FFE3-4B37-98F2-A8A18B79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The written goal changed the match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ADE7B-5E7F-4CCC-B09A-A85F91CA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Selected subject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55BC1-EB42-400B-837F-D6C15A6E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AI &amp;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F7CF4-C0B9-4DFD-A5F9-E75F8935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Written 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640FF-9B49-4271-A260-6C123277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“Build a React website”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24CFC-D03F-4BB4-B577-9F8D6EF2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495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Subject-only baseline: AI &amp; 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A9880-322E-4585-BA8C-E71C7A08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Goal-aware result: Web application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b87b8d9e54d01"/>
          <a:stretch xmlns:a="http://schemas.openxmlformats.org/drawingml/2006/main"/>
        </p:blipFill>
        <p:spPr>
          <a:xfrm xmlns:a="http://schemas.openxmlformats.org/drawingml/2006/main">
            <a:off x="6839630" y="1714500"/>
            <a:ext cx="3980089" cy="4286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CF5FC-4632-482E-8767-3666D418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Another test: an adult Scratch request excludes child-only cohorts.</a:t>
            </a:r>
          </a:p>
        </p:txBody>
      </p:sp>
    </p:spTree>
    <p:extLst>
      <p:ext uri="{BB962C8B-B14F-4D97-AF65-F5344CB8AC3E}">
        <p14:creationId xmlns:p14="http://schemas.microsoft.com/office/powerpoint/2010/main" val="1523135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A26D1-093A-4C29-AFA9-43DE1F17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MINDBRIDGE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13DC9-4E81-499A-BFBD-0E722626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A1D02-9F32-4B5F-881F-9908D7CC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Our place among existing 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0BF88-8072-4649-B538-0D817083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Competitors already solve parts of this need. MindBridge combines them in one journey.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2486025"/>
          <a:ext xmlns:a="http://schemas.openxmlformats.org/drawingml/2006/main" cx="10839450" cy="31337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38350"/>
                <a:gridCol w="3667125"/>
                <a:gridCol w="5133975"/>
              </a:tblGrid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Option</a:t>
                      </a:r>
                    </a:p>
                  </a:txBody>
                  <a:tcPr marL="91440" marR="91440" marT="45720" marB="45720">
                    <a:solidFill>
                      <a:srgbClr val="191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Primary offer</a:t>
                      </a:r>
                    </a:p>
                  </a:txBody>
                  <a:tcPr marL="91440" marR="91440" marT="45720" marB="45720">
                    <a:solidFill>
                      <a:srgbClr val="191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MindBridge emphasis</a:t>
                      </a:r>
                    </a:p>
                  </a:txBody>
                  <a:tcPr marL="91440" marR="91440" marT="45720" marB="45720">
                    <a:solidFill>
                      <a:srgbClr val="191D3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7055DF"/>
                          </a:solidFill>
                          <a:latin typeface="Segoe UI"/>
                          <a:ea typeface="Segoe UI"/>
                          <a:cs typeface="Segoe UI"/>
                        </a:rPr>
                        <a:t>Coursera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53B"/>
                          </a:solidFill>
                          <a:latin typeface="Segoe UI"/>
                          <a:ea typeface="Segoe UI"/>
                          <a:cs typeface="Segoe UI"/>
                        </a:rPr>
                        <a:t>Self-paced online courses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53B"/>
                          </a:solidFill>
                          <a:latin typeface="Segoe UI"/>
                          <a:ea typeface="Segoe UI"/>
                          <a:cs typeface="Segoe UI"/>
                        </a:rPr>
                        <a:t>A small live group to practise with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7055DF"/>
                          </a:solidFill>
                          <a:latin typeface="Segoe UI"/>
                          <a:ea typeface="Segoe UI"/>
                          <a:cs typeface="Segoe UI"/>
                        </a:rPr>
                        <a:t>Preply</a:t>
                      </a:r>
                    </a:p>
                  </a:txBody>
                  <a:tcPr marL="91440" marR="91440" marT="45720" marB="45720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53B"/>
                          </a:solidFill>
                          <a:latin typeface="Segoe UI"/>
                          <a:ea typeface="Segoe UI"/>
                          <a:cs typeface="Segoe UI"/>
                        </a:rPr>
                        <a:t>Private one-to-one lessons with AI practice</a:t>
                      </a:r>
                    </a:p>
                  </a:txBody>
                  <a:tcPr marL="91440" marR="91440" marT="45720" marB="45720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53B"/>
                          </a:solidFill>
                          <a:latin typeface="Segoe UI"/>
                          <a:ea typeface="Segoe UI"/>
                          <a:cs typeface="Segoe UI"/>
                        </a:rPr>
                        <a:t>Peers learn with one mentor</a:t>
                      </a:r>
                    </a:p>
                  </a:txBody>
                  <a:tcPr marL="91440" marR="91440" marT="45720" marB="45720">
                    <a:solidFill>
                      <a:srgbClr val="F6F7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7055DF"/>
                          </a:solidFill>
                          <a:latin typeface="Segoe UI"/>
                          <a:ea typeface="Segoe UI"/>
                          <a:cs typeface="Segoe UI"/>
                        </a:rPr>
                        <a:t>Outschool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53B"/>
                          </a:solidFill>
                          <a:latin typeface="Segoe UI"/>
                          <a:ea typeface="Segoe UI"/>
                          <a:cs typeface="Segoe UI"/>
                        </a:rPr>
                        <a:t>Live small-group classes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53B"/>
                          </a:solidFill>
                          <a:latin typeface="Segoe UI"/>
                          <a:ea typeface="Segoe UI"/>
                          <a:cs typeface="Segoe UI"/>
                        </a:rPr>
                        <a:t>Explained cohort fit and an AI study coach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7055DF"/>
                          </a:solidFill>
                          <a:latin typeface="Segoe UI"/>
                          <a:ea typeface="Segoe UI"/>
                          <a:cs typeface="Segoe UI"/>
                        </a:rPr>
                        <a:t>Khanmigo</a:t>
                      </a:r>
                    </a:p>
                  </a:txBody>
                  <a:tcPr marL="91440" marR="91440" marT="45720" marB="45720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53B"/>
                          </a:solidFill>
                          <a:latin typeface="Segoe UI"/>
                          <a:ea typeface="Segoe UI"/>
                          <a:cs typeface="Segoe UI"/>
                        </a:rPr>
                        <a:t>AI tutoring and teaching help</a:t>
                      </a:r>
                    </a:p>
                  </a:txBody>
                  <a:tcPr marL="91440" marR="91440" marT="45720" marB="45720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53B"/>
                          </a:solidFill>
                          <a:latin typeface="Segoe UI"/>
                          <a:ea typeface="Segoe UI"/>
                          <a:cs typeface="Segoe UI"/>
                        </a:rPr>
                        <a:t>Human mentor, peers and a shared lesson</a:t>
                      </a:r>
                    </a:p>
                  </a:txBody>
                  <a:tcPr marL="91440" marR="91440" marT="45720" marB="45720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ECDC0-757C-46C3-8072-04B8B88F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Public product descriptions, 9 Oct 2026. Positioning comparison, not a full feature audit.</a:t>
            </a:r>
          </a:p>
        </p:txBody>
      </p:sp>
    </p:spTree>
    <p:extLst>
      <p:ext uri="{BB962C8B-B14F-4D97-AF65-F5344CB8AC3E}">
        <p14:creationId xmlns:p14="http://schemas.microsoft.com/office/powerpoint/2010/main" val="214317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5A2F7-5A55-46B2-B820-AE20ECF7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MINDBRIDGE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AB6FA-27D3-4671-9228-8CBC33CF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72028-61CD-41EB-B58F-A0BE06BD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The pilot economics are testable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A3CF2-557B-4C3D-8CFC-61F323A2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₼12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B2948-84F0-4EBC-B560-84298AD7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452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Next lesson in the demo checkout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DE244-1C47-4707-ADE3-23E2FC4A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₼39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A7A92-E2DC-48A5-B49B-DD7DE4D7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452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Monthly pass in the demo checkout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6AB16-4E18-4E1D-B6EB-2C191C57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3837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4950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~US$0.90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3EFB1-0EE4-41FA-A696-05B86A8E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33725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Illustrative Gemini cost for 1,000 short turns*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6A6AC-B29A-4A68-849A-290D3C4F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56247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The dominant pilot work is mentor time, safe operations and real cohort supply.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83446-0CEF-459A-9BD6-32012DC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*500 input and 300 total output tokens per turn; paid-tier list price. Actual usage will vary.</a:t>
            </a:r>
          </a:p>
        </p:txBody>
      </p:sp>
    </p:spTree>
    <p:extLst>
      <p:ext uri="{BB962C8B-B14F-4D97-AF65-F5344CB8AC3E}">
        <p14:creationId xmlns:p14="http://schemas.microsoft.com/office/powerpoint/2010/main" val="8811905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91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A7E22-8E45-4B3D-A002-1CE68BB5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EE99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2EE99"/>
                </a:solidFill>
                <a:latin typeface="Segoe UI"/>
                <a:ea typeface="Segoe UI"/>
                <a:cs typeface="Segoe UI"/>
              </a:rPr>
              <a:t>MINDBRIDGE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6DA0E-8057-48DD-B80D-C48E7B9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EB6D1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EB6D1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F12BA-287D-4523-A546-E9FC1811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Working now. Still to 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1850C-30DB-476E-B808-E6F4270E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2EE99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C2EE99"/>
                </a:solidFill>
                <a:latin typeface="Segoe UI"/>
                <a:ea typeface="Segoe UI"/>
                <a:cs typeface="Segoe UI"/>
              </a:rPr>
              <a:t>Verified in the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76076-8F93-46FC-B443-DB18BE60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7434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DDE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9DDEA"/>
                </a:solidFill>
                <a:latin typeface="Segoe UI"/>
                <a:ea typeface="Segoe UI"/>
                <a:cs typeface="Segoe UI"/>
              </a:rPr>
              <a:t>28 automated checks pass</a:t>
            </a:r>
          </a:p>
          <a:p xmlns:a="http://schemas.openxmlformats.org/drawingml/2006/main">
            <a:pPr algn="l">
              <a:defRPr sz="1725" b="0">
                <a:solidFill>
                  <a:srgbClr val="D9DDE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9DDEA"/>
                </a:solidFill>
                <a:latin typeface="Segoe UI"/>
                <a:ea typeface="Segoe UI"/>
                <a:cs typeface="Segoe UI"/>
              </a:rPr>
              <a:t>Live Gemini answers in both languages</a:t>
            </a:r>
          </a:p>
          <a:p xmlns:a="http://schemas.openxmlformats.org/drawingml/2006/main">
            <a:pPr algn="l">
              <a:defRPr sz="1725" b="0">
                <a:solidFill>
                  <a:srgbClr val="D9DDE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9DDEA"/>
                </a:solidFill>
                <a:latin typeface="Segoe UI"/>
                <a:ea typeface="Segoe UI"/>
                <a:cs typeface="Segoe UI"/>
              </a:rPr>
              <a:t>Explainable matching and age eligibility</a:t>
            </a:r>
          </a:p>
          <a:p xmlns:a="http://schemas.openxmlformats.org/drawingml/2006/main">
            <a:pPr algn="l">
              <a:defRPr sz="1725" b="0">
                <a:solidFill>
                  <a:srgbClr val="D9DDE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9DDEA"/>
                </a:solidFill>
                <a:latin typeface="Segoe UI"/>
                <a:ea typeface="Segoe UI"/>
                <a:cs typeface="Segoe UI"/>
              </a:rPr>
              <a:t>Whiteboard, assessment and certificate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72829-A5E5-4633-8F2E-4615CB29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097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2EE99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C2EE99"/>
                </a:solidFill>
                <a:latin typeface="Segoe UI"/>
                <a:ea typeface="Segoe UI"/>
                <a:cs typeface="Segoe UI"/>
              </a:rPr>
              <a:t>Required for a real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34C34-9B76-49B9-B9F5-B618D626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71750"/>
            <a:ext cx="4953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DDE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9DDEA"/>
                </a:solidFill>
                <a:latin typeface="Segoe UI"/>
                <a:ea typeface="Segoe UI"/>
                <a:cs typeface="Segoe UI"/>
              </a:rPr>
              <a:t>Verified mentors and live scheduling</a:t>
            </a:r>
          </a:p>
          <a:p xmlns:a="http://schemas.openxmlformats.org/drawingml/2006/main">
            <a:pPr algn="l">
              <a:defRPr sz="1725" b="0">
                <a:solidFill>
                  <a:srgbClr val="D9DDE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9DDEA"/>
                </a:solidFill>
                <a:latin typeface="Segoe UI"/>
                <a:ea typeface="Segoe UI"/>
                <a:cs typeface="Segoe UI"/>
              </a:rPr>
              <a:t>Authentication and parent consent records</a:t>
            </a:r>
          </a:p>
          <a:p xmlns:a="http://schemas.openxmlformats.org/drawingml/2006/main">
            <a:pPr algn="l">
              <a:defRPr sz="1725" b="0">
                <a:solidFill>
                  <a:srgbClr val="D9DDE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9DDEA"/>
                </a:solidFill>
                <a:latin typeface="Segoe UI"/>
                <a:ea typeface="Segoe UI"/>
                <a:cs typeface="Segoe UI"/>
              </a:rPr>
              <a:t>Real video, moderation and payments</a:t>
            </a:r>
          </a:p>
          <a:p xmlns:a="http://schemas.openxmlformats.org/drawingml/2006/main">
            <a:pPr algn="l">
              <a:defRPr sz="1725" b="0">
                <a:solidFill>
                  <a:srgbClr val="D9DDE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9DDEA"/>
                </a:solidFill>
                <a:latin typeface="Segoe UI"/>
                <a:ea typeface="Segoe UI"/>
                <a:cs typeface="Segoe UI"/>
              </a:rPr>
              <a:t>Learning outcomes with real cohorts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2A212-2896-4DEA-AC1C-EC579348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 traction or learning-impact result is claimed yet.</a:t>
            </a:r>
          </a:p>
        </p:txBody>
      </p:sp>
    </p:spTree>
    <p:extLst>
      <p:ext uri="{BB962C8B-B14F-4D97-AF65-F5344CB8AC3E}">
        <p14:creationId xmlns:p14="http://schemas.microsoft.com/office/powerpoint/2010/main" val="19193319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5302E-FE04-45D8-96FC-69B7F63B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MINDBRIDGE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93ABB-30A1-4C28-8286-5009CD86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5A77F-A37F-4F3B-9591-3A76E2C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The next proof is a real cohort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A95B5-12C3-4D10-8703-4AEAF154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Proposed four-week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A082D-DF03-4A1B-9FDD-E933DF15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2 cohorts   ·   up to 10 learners   ·   2 mentors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8219F-08AB-4B01-93C0-0F81FC76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55D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55DF"/>
                </a:solidFill>
                <a:latin typeface="Segoe UI"/>
                <a:ea typeface="Segoe UI"/>
                <a:cs typeface="Segoe UI"/>
              </a:rPr>
              <a:t>What we would measure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31D2D-AB83-4727-9296-0860C44B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004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Attendance, questions per learner, quiz progress, match fit and willingness to continue.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1948D-9AC0-4D23-A8D8-EE3C3248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F667A"/>
                </a:solidFill>
                <a:latin typeface="Segoe UI"/>
                <a:ea typeface="Segoe UI"/>
                <a:cs typeface="Segoe UI"/>
              </a:rPr>
              <a:t>MindBridge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6946C-A87E-4AE1-BDF9-F8F88B15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007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3B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0253B"/>
                </a:solidFill>
                <a:latin typeface="Segoe UI"/>
                <a:ea typeface="Segoe UI"/>
                <a:cs typeface="Segoe UI"/>
              </a:rPr>
              <a:t>Magsad Huseynli · Murad Zeynalov · Ordukhan Ordukhanli · Elgun Ibrahimli</a:t>
            </a:r>
          </a:p>
        </p:txBody>
      </p:sp>
    </p:spTree>
    <p:extLst>
      <p:ext uri="{BB962C8B-B14F-4D97-AF65-F5344CB8AC3E}">
        <p14:creationId xmlns:p14="http://schemas.microsoft.com/office/powerpoint/2010/main" val="804707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2026-10-09T14:26:32.2410000Z</dcterms:created>
  <dcterms:modified xsi:type="dcterms:W3CDTF">2026-10-09T14:26:32.2410000Z</dcterms:modified>
</coreProperties>
</file>